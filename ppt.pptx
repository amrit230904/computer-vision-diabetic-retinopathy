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7" r:id="rId5"/>
    <p:sldId id="268" r:id="rId6"/>
    <p:sldId id="261" r:id="rId7"/>
    <p:sldId id="264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0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5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724AF-B278-0F95-AF4C-92DACADC2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C2620-15D7-C73D-5717-042E97E4D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7B956-7D01-6F8F-E784-352969D55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6C349-69C0-D066-AB9C-FC754CA5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0AB70-B754-8D50-6D9A-DB4DB3CA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44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BF40-F465-3848-578B-B2BF28BE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7EC4C-A82D-697C-D352-B914A5B72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9AA53-40A5-E6D6-F467-15797856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9824F-F883-9EC4-FAAE-54DD2428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1716B-E46B-7190-8B2B-8F75525A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07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786B4-2A02-914F-F595-A17F2260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7A634-D201-132A-A0F5-517B2E4D0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42EEF-907B-C15C-4CB2-A04AC2609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69E8B-E129-F883-CDAD-8BBB7B73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8F1C1-7075-7E81-A976-40F1FB77B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5BEB-C75F-E1A9-C80B-2B00F29E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B7F0A-765D-E0D0-CE05-856A855D9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987DE-2282-DBBD-DDDF-7B9639246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4A375-7069-43ED-5276-5C109FEF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7931B-D57F-24D7-0962-58FC1CDE9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0C3F9-734B-A617-6E61-CBA76C39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3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96BF-F1C9-6C37-AE13-4F8AEAA0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9B6A2-EF40-3EA9-6669-B926AFB0D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D58DF-44B9-BEBF-ACC9-C8AB56D35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F84A77-23B2-E6E9-DEE6-2A17F0145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4AF516-64DD-D86F-3BD1-08871EA50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5AAFB-9105-5F0C-3276-C679BF42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73F11-06E0-65E3-36DF-8851AFE3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DB431-11FC-CD31-AE8E-6C939E11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9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0284-7AF3-96A7-2A2E-0EA89A4D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812BB-28E8-AF1F-89F9-8807CD40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7282B4-B162-64B1-078B-FEACE2A2C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46661-0E95-3F74-3D51-B4C35D8C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7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6DFA11-8DFE-4554-D72D-C1CA89E76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1FA73-E815-87AB-846C-57C701D9A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DF72C-30C3-7685-6B19-68D65ED55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7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13F5-6A4F-4C92-C925-7267BB56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BF9CD-647E-BF11-85C9-DABBC5647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C5BF9-5162-D1FA-C913-CA69DB730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D1E44-A50B-298C-F87F-2A8304D8E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B707A-A1D1-C9F3-98CE-823D25137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40BB8-62DA-202B-A793-974743A1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66F1-A765-F3B1-2186-BD2A5F9D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39CA4C-B699-2F44-D6DD-266BA12A6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92A2B-2B13-BC9F-70AD-AB8038C52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A6DF4-F9F4-DD3C-B8D5-C9D234EC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671B5-2C21-2EF5-772D-F336B1CB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3B7AB-C233-CDEA-FCEB-B662D73E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4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C19C8-32B2-2FFA-7CBC-E4882E11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00F86-8F62-9E40-943B-B9CEF6541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84893-8AD1-CE6A-49D1-14D911441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3BF8A-46B7-35B6-5CFB-550D6FF6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1913C-1396-A467-6084-124FD722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6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A4F4F-D750-2998-C98E-73B906AE1B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E7814-3B75-88ED-9E33-8BC8B513A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B6C34-69F1-9198-6BAC-B595599A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46D2E-E56E-9E7F-086F-082AFA2C2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972C-F06F-B2CE-1FB8-96629DC0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95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0DE991-3BE0-2DF8-8A2A-E29909C23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FE2C2-4018-51C4-0E3E-87A3268B7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06F26-1D18-770F-E0F8-D43AB76D4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C002C-24E1-446A-A901-3BFCF5BCAC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BCCA5-9F54-A221-4611-ADDE762EA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F4412-20F4-B489-7125-15F06F2B0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41060-3067-4666-9787-994AC3194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71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541AE5-109D-7618-C124-496DD086B547}"/>
              </a:ext>
            </a:extLst>
          </p:cNvPr>
          <p:cNvSpPr txBox="1"/>
          <p:nvPr/>
        </p:nvSpPr>
        <p:spPr>
          <a:xfrm>
            <a:off x="1634837" y="517220"/>
            <a:ext cx="9504218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DIABETIC RETINOPATHY HEMORRHAGE DETECTION </a:t>
            </a:r>
            <a:endParaRPr lang="en-US" sz="28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F5A1B-6899-1C6F-B9EA-3F15010E88BA}"/>
              </a:ext>
            </a:extLst>
          </p:cNvPr>
          <p:cNvSpPr txBox="1"/>
          <p:nvPr/>
        </p:nvSpPr>
        <p:spPr>
          <a:xfrm>
            <a:off x="618837" y="28494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Dataset: DIARETDB1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A3F19-AEEB-6CC5-AD4E-48AA7346F9AB}"/>
              </a:ext>
            </a:extLst>
          </p:cNvPr>
          <p:cNvSpPr txBox="1"/>
          <p:nvPr/>
        </p:nvSpPr>
        <p:spPr>
          <a:xfrm>
            <a:off x="646545" y="4927708"/>
            <a:ext cx="10677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Implementation: Preprocessing → Seed Extraction → SWAT Segmentation → Feature Analysis → Classification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260F38-3425-F21E-47F5-32AD9D1AB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62" y="3376044"/>
            <a:ext cx="49876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samples: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574 (</a:t>
            </a:r>
            <a:r>
              <a:rPr lang="en-US" dirty="0"/>
              <a:t>64%)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samples: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144 (</a:t>
            </a:r>
            <a:r>
              <a:rPr lang="en-US" dirty="0"/>
              <a:t>16%)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samples: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180 </a:t>
            </a:r>
            <a:r>
              <a:rPr lang="en-US" dirty="0"/>
              <a:t>(20%)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044A9-88DE-B2A0-78D8-869F0ED1510D}"/>
              </a:ext>
            </a:extLst>
          </p:cNvPr>
          <p:cNvSpPr txBox="1"/>
          <p:nvPr/>
        </p:nvSpPr>
        <p:spPr>
          <a:xfrm>
            <a:off x="600363" y="25354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 Dataset Size distribution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16F647-C378-D655-8823-EE9335D8DD2D}"/>
              </a:ext>
            </a:extLst>
          </p:cNvPr>
          <p:cNvSpPr txBox="1"/>
          <p:nvPr/>
        </p:nvSpPr>
        <p:spPr>
          <a:xfrm>
            <a:off x="4876801" y="3625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 total - 898 images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9103B30-361E-5304-1BA2-6FA7792E9BE8}"/>
              </a:ext>
            </a:extLst>
          </p:cNvPr>
          <p:cNvSpPr/>
          <p:nvPr/>
        </p:nvSpPr>
        <p:spPr>
          <a:xfrm>
            <a:off x="4211782" y="3334327"/>
            <a:ext cx="674255" cy="932873"/>
          </a:xfrm>
          <a:prstGeom prst="rightBrac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EA6CCC-491D-C520-2398-C20C97371C10}"/>
              </a:ext>
            </a:extLst>
          </p:cNvPr>
          <p:cNvSpPr txBox="1"/>
          <p:nvPr/>
        </p:nvSpPr>
        <p:spPr>
          <a:xfrm>
            <a:off x="609599" y="1390272"/>
            <a:ext cx="110097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The aim is to extract the actual hemorrhage region from a suspicious seed point using localized adaptive thresholding.</a:t>
            </a:r>
          </a:p>
        </p:txBody>
      </p:sp>
    </p:spTree>
    <p:extLst>
      <p:ext uri="{BB962C8B-B14F-4D97-AF65-F5344CB8AC3E}">
        <p14:creationId xmlns:p14="http://schemas.microsoft.com/office/powerpoint/2010/main" val="1547287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19875C-E711-CDDD-383C-F594D61B138C}"/>
              </a:ext>
            </a:extLst>
          </p:cNvPr>
          <p:cNvSpPr txBox="1"/>
          <p:nvPr/>
        </p:nvSpPr>
        <p:spPr>
          <a:xfrm>
            <a:off x="3352800" y="2910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5B3A8-8FE0-5BEE-476C-B640D95A0E5C}"/>
              </a:ext>
            </a:extLst>
          </p:cNvPr>
          <p:cNvSpPr txBox="1"/>
          <p:nvPr/>
        </p:nvSpPr>
        <p:spPr>
          <a:xfrm>
            <a:off x="605905" y="1741528"/>
            <a:ext cx="1099127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Diabetic Retinopathy (DR) is a major cause of preventable blindness.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Hemorrhages are one of the earliest clinical signs.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Manual screening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Time-consuming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Requires ophthalmologists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Objective:</a:t>
            </a:r>
            <a:br>
              <a:rPr lang="en-US" sz="2400" dirty="0"/>
            </a:br>
            <a:r>
              <a:rPr lang="en-US" sz="2400" dirty="0"/>
              <a:t>Automatically detect retinal hemorrhages from fundus images using image processing .</a:t>
            </a:r>
          </a:p>
        </p:txBody>
      </p:sp>
    </p:spTree>
    <p:extLst>
      <p:ext uri="{BB962C8B-B14F-4D97-AF65-F5344CB8AC3E}">
        <p14:creationId xmlns:p14="http://schemas.microsoft.com/office/powerpoint/2010/main" val="3320292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70C26-73EC-71FE-AF8F-E1D9ED349C1E}"/>
              </a:ext>
            </a:extLst>
          </p:cNvPr>
          <p:cNvSpPr txBox="1"/>
          <p:nvPr/>
        </p:nvSpPr>
        <p:spPr>
          <a:xfrm>
            <a:off x="2900218" y="51267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OVERALL METHODOLOGY PIPELINE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C02144-A6A9-10F4-6E8F-1FD2FC475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365" y="1401907"/>
            <a:ext cx="8841653" cy="400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7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EE4418-D1E7-4DE0-87E0-2976E74F4E5C}"/>
              </a:ext>
            </a:extLst>
          </p:cNvPr>
          <p:cNvSpPr txBox="1"/>
          <p:nvPr/>
        </p:nvSpPr>
        <p:spPr>
          <a:xfrm>
            <a:off x="2327563" y="26329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2B242-C16B-9D3E-E26E-011B827691AB}"/>
              </a:ext>
            </a:extLst>
          </p:cNvPr>
          <p:cNvSpPr txBox="1"/>
          <p:nvPr/>
        </p:nvSpPr>
        <p:spPr>
          <a:xfrm>
            <a:off x="480292" y="928684"/>
            <a:ext cx="111575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Data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Retinal fundus images were obtained from the DIARETDB1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dataset contains labeled images indicating the presence or absence of hemorrhages.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images used: 898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Training: 574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Validation: 144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Testing: 180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7215B-3F6C-AE58-F06A-EA48EBDA5E7C}"/>
              </a:ext>
            </a:extLst>
          </p:cNvPr>
          <p:cNvSpPr txBox="1"/>
          <p:nvPr/>
        </p:nvSpPr>
        <p:spPr>
          <a:xfrm>
            <a:off x="517236" y="3089901"/>
            <a:ext cx="87283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Data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Extracted </a:t>
            </a:r>
            <a:r>
              <a:rPr lang="en-US" dirty="0">
                <a:highlight>
                  <a:srgbClr val="FFFF00"/>
                </a:highlight>
              </a:rPr>
              <a:t>green channel </a:t>
            </a:r>
            <a:r>
              <a:rPr lang="en-US" dirty="0"/>
              <a:t>for better hemorrhage visibility.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Applied </a:t>
            </a:r>
            <a:r>
              <a:rPr lang="en-US" dirty="0">
                <a:highlight>
                  <a:srgbClr val="FFFF00"/>
                </a:highlight>
              </a:rPr>
              <a:t>CLAHE </a:t>
            </a:r>
            <a:r>
              <a:rPr lang="en-US" dirty="0"/>
              <a:t>to enhance contrast.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Performed </a:t>
            </a:r>
            <a:r>
              <a:rPr lang="en-US" dirty="0">
                <a:highlight>
                  <a:srgbClr val="FFFF00"/>
                </a:highlight>
              </a:rPr>
              <a:t>gamma correction </a:t>
            </a:r>
            <a:r>
              <a:rPr lang="en-US" dirty="0"/>
              <a:t>for illumination normalization.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</a:t>
            </a:r>
            <a:r>
              <a:rPr lang="en-US" dirty="0">
                <a:highlight>
                  <a:srgbClr val="FFFF00"/>
                </a:highlight>
              </a:rPr>
              <a:t>matched filtering and Otsu thresholding </a:t>
            </a:r>
            <a:r>
              <a:rPr lang="en-US" dirty="0"/>
              <a:t>for seed point detection.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F50777-910D-FE0E-4C77-077150597B69}"/>
              </a:ext>
            </a:extLst>
          </p:cNvPr>
          <p:cNvSpPr txBox="1"/>
          <p:nvPr/>
        </p:nvSpPr>
        <p:spPr>
          <a:xfrm>
            <a:off x="489528" y="4928275"/>
            <a:ext cx="88946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SWAT-Based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Extracted 128×128 local windows around detected seed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Applied adaptive thresholding.</a:t>
            </a:r>
          </a:p>
        </p:txBody>
      </p:sp>
    </p:spTree>
    <p:extLst>
      <p:ext uri="{BB962C8B-B14F-4D97-AF65-F5344CB8AC3E}">
        <p14:creationId xmlns:p14="http://schemas.microsoft.com/office/powerpoint/2010/main" val="1183566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830138-BCFD-E2F9-189B-AFE302BAEB2D}"/>
              </a:ext>
            </a:extLst>
          </p:cNvPr>
          <p:cNvSpPr txBox="1"/>
          <p:nvPr/>
        </p:nvSpPr>
        <p:spPr>
          <a:xfrm>
            <a:off x="369454" y="476147"/>
            <a:ext cx="108527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5. Model Selection &amp;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Implemented multiple CNN architectures: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SimpleCNN</a:t>
            </a:r>
            <a:r>
              <a:rPr lang="en-US" dirty="0"/>
              <a:t> (custom-built)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BiraNet</a:t>
            </a:r>
            <a:r>
              <a:rPr lang="en-US" dirty="0"/>
              <a:t> (custom with Batch Normalization)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LeNet-5 (classic CNN)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InceptionV3 (pretrained transfer learning)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Trained for up to 20 epochs.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948AEF-9915-7230-3A42-641D4F5FA00C}"/>
              </a:ext>
            </a:extLst>
          </p:cNvPr>
          <p:cNvSpPr txBox="1"/>
          <p:nvPr/>
        </p:nvSpPr>
        <p:spPr>
          <a:xfrm>
            <a:off x="364835" y="3035500"/>
            <a:ext cx="98552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Model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Evaluated models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Sensitivity (Recall)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Specificity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Precision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Confusion Matrix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ROC–AUC Curve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Applied </a:t>
            </a:r>
            <a:r>
              <a:rPr lang="en-US" dirty="0" err="1"/>
              <a:t>EarlyStopping</a:t>
            </a:r>
            <a:r>
              <a:rPr lang="en-US" dirty="0"/>
              <a:t> and learning rate scheduling to optimize training.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6FAE57-475E-B14D-FF0C-2202E26BB35F}"/>
              </a:ext>
            </a:extLst>
          </p:cNvPr>
          <p:cNvSpPr txBox="1"/>
          <p:nvPr/>
        </p:nvSpPr>
        <p:spPr>
          <a:xfrm>
            <a:off x="420255" y="593724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7. Final Model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InceptionV3 achieved highest AUC (0.91).</a:t>
            </a:r>
          </a:p>
        </p:txBody>
      </p:sp>
    </p:spTree>
    <p:extLst>
      <p:ext uri="{BB962C8B-B14F-4D97-AF65-F5344CB8AC3E}">
        <p14:creationId xmlns:p14="http://schemas.microsoft.com/office/powerpoint/2010/main" val="271843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5D9D5C-20B1-3748-8AC4-FE0692A5F927}"/>
              </a:ext>
            </a:extLst>
          </p:cNvPr>
          <p:cNvSpPr txBox="1"/>
          <p:nvPr/>
        </p:nvSpPr>
        <p:spPr>
          <a:xfrm>
            <a:off x="2540000" y="40184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IMAGE PREPROCESSING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9E70E-2F6F-24D8-7D39-FE5622614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6219"/>
            <a:ext cx="8053803" cy="2294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E4D71A-83F8-C6A0-7A60-BE3F6FD95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73" y="3974141"/>
            <a:ext cx="10754654" cy="28838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7D36E2-B7F3-62E4-FE88-BD83607462ED}"/>
              </a:ext>
            </a:extLst>
          </p:cNvPr>
          <p:cNvSpPr txBox="1"/>
          <p:nvPr/>
        </p:nvSpPr>
        <p:spPr>
          <a:xfrm>
            <a:off x="10381673" y="3315855"/>
            <a:ext cx="1326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49B13E-8B6A-BB12-F2DF-5D063DFAAF79}"/>
              </a:ext>
            </a:extLst>
          </p:cNvPr>
          <p:cNvSpPr txBox="1"/>
          <p:nvPr/>
        </p:nvSpPr>
        <p:spPr>
          <a:xfrm>
            <a:off x="3048000" y="32466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11759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77858D-FE24-7C06-5DA9-6D28A154B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9112"/>
            <a:ext cx="12192000" cy="2519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14624F-F837-1B05-AC4A-5C3B8A4BC8A9}"/>
              </a:ext>
            </a:extLst>
          </p:cNvPr>
          <p:cNvSpPr txBox="1"/>
          <p:nvPr/>
        </p:nvSpPr>
        <p:spPr>
          <a:xfrm>
            <a:off x="2456873" y="960582"/>
            <a:ext cx="8225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Output: After seed extraction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E009F-95F7-19BD-B185-A2DF89490509}"/>
              </a:ext>
            </a:extLst>
          </p:cNvPr>
          <p:cNvSpPr txBox="1"/>
          <p:nvPr/>
        </p:nvSpPr>
        <p:spPr>
          <a:xfrm>
            <a:off x="3371273" y="4604388"/>
            <a:ext cx="2697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Detects bleeding patterns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EC3766-0C1D-BB49-D003-23BA39B47075}"/>
              </a:ext>
            </a:extLst>
          </p:cNvPr>
          <p:cNvSpPr txBox="1"/>
          <p:nvPr/>
        </p:nvSpPr>
        <p:spPr>
          <a:xfrm>
            <a:off x="6151418" y="4604388"/>
            <a:ext cx="2854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Identifies suspicious regions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ECAEF4F-60A2-E7BD-537C-E526B02C099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63452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82834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1E2B8D2-0A97-F949-4D3F-5D26D38E4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70184"/>
              </p:ext>
            </p:extLst>
          </p:nvPr>
        </p:nvGraphicFramePr>
        <p:xfrm>
          <a:off x="108526" y="4596014"/>
          <a:ext cx="2551545" cy="365760"/>
        </p:xfrm>
        <a:graphic>
          <a:graphicData uri="http://schemas.openxmlformats.org/drawingml/2006/table">
            <a:tbl>
              <a:tblPr/>
              <a:tblGrid>
                <a:gridCol w="2551545">
                  <a:extLst>
                    <a:ext uri="{9D8B030D-6E8A-4147-A177-3AD203B41FA5}">
                      <a16:colId xmlns:a16="http://schemas.microsoft.com/office/drawing/2014/main" val="46447890"/>
                    </a:ext>
                  </a:extLst>
                </a:gridCol>
              </a:tblGrid>
              <a:tr h="2069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8043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CC31C2F-43C8-E17E-6AAC-806E91E02A20}"/>
              </a:ext>
            </a:extLst>
          </p:cNvPr>
          <p:cNvSpPr txBox="1"/>
          <p:nvPr/>
        </p:nvSpPr>
        <p:spPr>
          <a:xfrm>
            <a:off x="147781" y="6220751"/>
            <a:ext cx="6631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Real hemorrhage region -&gt; Slightly darker than surrounding retina</a:t>
            </a:r>
          </a:p>
        </p:txBody>
      </p:sp>
    </p:spTree>
    <p:extLst>
      <p:ext uri="{BB962C8B-B14F-4D97-AF65-F5344CB8AC3E}">
        <p14:creationId xmlns:p14="http://schemas.microsoft.com/office/powerpoint/2010/main" val="2400050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3E8F15-3AB2-BF4E-CCF4-166EFF5C9FA4}"/>
              </a:ext>
            </a:extLst>
          </p:cNvPr>
          <p:cNvSpPr txBox="1"/>
          <p:nvPr/>
        </p:nvSpPr>
        <p:spPr>
          <a:xfrm>
            <a:off x="609600" y="2789379"/>
            <a:ext cx="99937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For each seed point:</a:t>
            </a:r>
          </a:p>
          <a:p>
            <a:pPr>
              <a:buFont typeface="+mj-lt"/>
              <a:buAutoNum type="arabicPeriod"/>
            </a:pPr>
            <a:r>
              <a:rPr lang="en-US" dirty="0"/>
              <a:t>Extract local 128×128 window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Apply segmentation (SWAT)</a:t>
            </a:r>
          </a:p>
          <a:p>
            <a:pPr>
              <a:buFont typeface="+mj-lt"/>
              <a:buAutoNum type="arabicPeriod"/>
            </a:pPr>
            <a:r>
              <a:rPr lang="en-US" dirty="0"/>
              <a:t>Generate lesion mask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Medical Interpretation: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Focused analysis mimics ophthalmologist zooming into suspicious region.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490F3-2AFA-8B48-C141-FEAB7DE555A9}"/>
              </a:ext>
            </a:extLst>
          </p:cNvPr>
          <p:cNvSpPr txBox="1"/>
          <p:nvPr/>
        </p:nvSpPr>
        <p:spPr>
          <a:xfrm>
            <a:off x="1385455" y="605043"/>
            <a:ext cx="8386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Lesion Detection and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SWAT SEGMENTATION </a:t>
            </a: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B7E99A-BDF2-7838-577A-3446AF8DC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72" y="1233162"/>
            <a:ext cx="98367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First, suspicious regions were identified using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seed point extraction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Then, SWAT-based segmentation was applied to precisely isolate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intraretinal hemorrhages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0D558D-D50C-E8E0-DC0D-38DFF2DFF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2" y="2485352"/>
            <a:ext cx="4096322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8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B80D67-4235-188A-726A-4947B236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83" y="387928"/>
            <a:ext cx="6596719" cy="49137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A1C090-C1D0-5B37-DCD9-81F2F5754934}"/>
              </a:ext>
            </a:extLst>
          </p:cNvPr>
          <p:cNvSpPr txBox="1"/>
          <p:nvPr/>
        </p:nvSpPr>
        <p:spPr>
          <a:xfrm>
            <a:off x="332509" y="5657381"/>
            <a:ext cx="6751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 dirty="0">
                <a:solidFill>
                  <a:srgbClr val="C00000"/>
                </a:solidFill>
              </a:rPr>
              <a:t>InceptionV3 &gt; LeNet-5 &gt; SimpleCNN = BiraNet &gt; HemNet &gt;&gt; AlexNet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032491-B88C-BCCE-C2CC-421C4CAE8B1E}"/>
              </a:ext>
            </a:extLst>
          </p:cNvPr>
          <p:cNvSpPr txBox="1"/>
          <p:nvPr/>
        </p:nvSpPr>
        <p:spPr>
          <a:xfrm>
            <a:off x="369455" y="60914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InceptionV3: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2A2E10F-3EC9-10D2-E861-7AD17D96F5C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5908319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086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B894AD3-AF0B-4774-81F0-E050A6134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487875"/>
              </p:ext>
            </p:extLst>
          </p:nvPr>
        </p:nvGraphicFramePr>
        <p:xfrm>
          <a:off x="1828800" y="6109032"/>
          <a:ext cx="7721600" cy="365760"/>
        </p:xfrm>
        <a:graphic>
          <a:graphicData uri="http://schemas.openxmlformats.org/drawingml/2006/table">
            <a:tbl>
              <a:tblPr/>
              <a:tblGrid>
                <a:gridCol w="7721600">
                  <a:extLst>
                    <a:ext uri="{9D8B030D-6E8A-4147-A177-3AD203B41FA5}">
                      <a16:colId xmlns:a16="http://schemas.microsoft.com/office/drawing/2014/main" val="1986119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Best discrimination between hemorrhage and non-hemorrhage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321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76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C8C0A5-B132-775E-71F3-41C8BE34AB56}"/>
              </a:ext>
            </a:extLst>
          </p:cNvPr>
          <p:cNvSpPr txBox="1"/>
          <p:nvPr/>
        </p:nvSpPr>
        <p:spPr>
          <a:xfrm>
            <a:off x="314037" y="5177227"/>
            <a:ext cx="117394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Although LeNet-5 achieved the highest accuracy (81.7%), </a:t>
            </a:r>
          </a:p>
          <a:p>
            <a:r>
              <a:rPr lang="en-US" b="1" dirty="0">
                <a:solidFill>
                  <a:srgbClr val="C00000"/>
                </a:solidFill>
              </a:rPr>
              <a:t>InceptionV3 obtained the highest AUC (0.91), indicating superior overall discriminative capability. 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Since AUC is more reliable for medical screening evaluation, InceptionV3 can be considered the best-performing model in this study.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35258-CDB6-0000-697B-918B071F4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523469"/>
            <a:ext cx="8703783" cy="430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9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0E68E0-EF45-57D9-AB19-DB57AE46C6B0}"/>
              </a:ext>
            </a:extLst>
          </p:cNvPr>
          <p:cNvSpPr txBox="1"/>
          <p:nvPr/>
        </p:nvSpPr>
        <p:spPr>
          <a:xfrm>
            <a:off x="4692070" y="484970"/>
            <a:ext cx="19304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Results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D4E890-68DD-79F9-D7F7-8E06106B2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144330"/>
              </p:ext>
            </p:extLst>
          </p:nvPr>
        </p:nvGraphicFramePr>
        <p:xfrm>
          <a:off x="2740891" y="1997004"/>
          <a:ext cx="7095837" cy="1828800"/>
        </p:xfrm>
        <a:graphic>
          <a:graphicData uri="http://schemas.openxmlformats.org/drawingml/2006/table">
            <a:tbl>
              <a:tblPr/>
              <a:tblGrid>
                <a:gridCol w="2365279">
                  <a:extLst>
                    <a:ext uri="{9D8B030D-6E8A-4147-A177-3AD203B41FA5}">
                      <a16:colId xmlns:a16="http://schemas.microsoft.com/office/drawing/2014/main" val="818164937"/>
                    </a:ext>
                  </a:extLst>
                </a:gridCol>
                <a:gridCol w="2365279">
                  <a:extLst>
                    <a:ext uri="{9D8B030D-6E8A-4147-A177-3AD203B41FA5}">
                      <a16:colId xmlns:a16="http://schemas.microsoft.com/office/drawing/2014/main" val="605152969"/>
                    </a:ext>
                  </a:extLst>
                </a:gridCol>
                <a:gridCol w="2365279">
                  <a:extLst>
                    <a:ext uri="{9D8B030D-6E8A-4147-A177-3AD203B41FA5}">
                      <a16:colId xmlns:a16="http://schemas.microsoft.com/office/drawing/2014/main" val="1432901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Accuracy (%)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AUC Score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71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InceptionV3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79.4%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0.91</a:t>
                      </a:r>
                      <a:r>
                        <a:rPr lang="en-US" dirty="0"/>
                        <a:t> 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29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LeNet-5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81.7%</a:t>
                      </a:r>
                      <a:r>
                        <a:rPr lang="en-US"/>
                        <a:t> 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459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BiraNet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78.3%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43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SimpleCNN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76.7%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88732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9DCCA3B-940E-C790-DC55-F0EDD5466096}"/>
              </a:ext>
            </a:extLst>
          </p:cNvPr>
          <p:cNvSpPr txBox="1"/>
          <p:nvPr/>
        </p:nvSpPr>
        <p:spPr>
          <a:xfrm>
            <a:off x="212436" y="4521629"/>
            <a:ext cx="116839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-&gt;Accuracy </a:t>
            </a:r>
            <a:r>
              <a:rPr lang="en-US" dirty="0"/>
              <a:t>measures the percentage of correctly classified samples at a </a:t>
            </a:r>
            <a:r>
              <a:rPr lang="en-US" dirty="0">
                <a:highlight>
                  <a:srgbClr val="FFFF00"/>
                </a:highlight>
              </a:rPr>
              <a:t>fixed decision threshold (usually 0.5)</a:t>
            </a:r>
            <a:r>
              <a:rPr lang="en-US" dirty="0"/>
              <a:t>, showing overall prediction correctness. </a:t>
            </a:r>
          </a:p>
          <a:p>
            <a:r>
              <a:rPr lang="en-US" dirty="0"/>
              <a:t>-&gt;In contrast, </a:t>
            </a:r>
            <a:r>
              <a:rPr lang="en-US" dirty="0">
                <a:highlight>
                  <a:srgbClr val="FFFF00"/>
                </a:highlight>
              </a:rPr>
              <a:t>AUC (Area Under the ROC Curve) </a:t>
            </a:r>
            <a:r>
              <a:rPr lang="en-US" dirty="0"/>
              <a:t>evaluates </a:t>
            </a:r>
            <a:r>
              <a:rPr lang="en-US" dirty="0">
                <a:highlight>
                  <a:srgbClr val="FFFF00"/>
                </a:highlight>
              </a:rPr>
              <a:t>how well the model distinguishes between hemorrhage and non-hemorrhage across all possible thresholds</a:t>
            </a:r>
            <a:r>
              <a:rPr lang="en-US" dirty="0"/>
              <a:t>, reflecting its overall discriminative ability. </a:t>
            </a:r>
          </a:p>
          <a:p>
            <a:r>
              <a:rPr lang="en-US" dirty="0"/>
              <a:t>-&gt;In medical diagnosis tasks, </a:t>
            </a:r>
            <a:r>
              <a:rPr lang="en-US" dirty="0">
                <a:highlight>
                  <a:srgbClr val="00FFFF"/>
                </a:highlight>
              </a:rPr>
              <a:t>AUC </a:t>
            </a:r>
            <a:r>
              <a:rPr lang="en-US" dirty="0"/>
              <a:t>is generally more reliable because it better captures the trade-off between sensitivity and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913592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542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amaritanshi gupta</dc:creator>
  <cp:lastModifiedBy>amaritanshi gupta</cp:lastModifiedBy>
  <cp:revision>5</cp:revision>
  <dcterms:created xsi:type="dcterms:W3CDTF">2026-02-18T12:14:13Z</dcterms:created>
  <dcterms:modified xsi:type="dcterms:W3CDTF">2026-02-20T14:17:11Z</dcterms:modified>
</cp:coreProperties>
</file>